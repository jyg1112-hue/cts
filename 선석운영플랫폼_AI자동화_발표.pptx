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3200400"/>
            <a:ext cx="5029200" cy="4114800"/>
          </a:xfrm>
          <a:prstGeom prst="rect">
            <a:avLst/>
          </a:prstGeom>
          <a:solidFill>
            <a:srgbClr val="1F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3200400" cy="3200400"/>
          </a:xfrm>
          <a:prstGeom prst="rect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3C5FD"/>
                </a:solidFill>
                <a:latin typeface="맑은 고딕"/>
              </a:rPr>
              <a:t>AI 업무자동화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맑은 고딕"/>
              </a:rPr>
              <a:t>선석 운영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090C8"/>
                </a:solidFill>
                <a:latin typeface="맑은 고딕"/>
              </a:rPr>
              <a:t>Port Operation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FastAPI  ·  OpenAI GPT-4o-mini  ·  Tavily Search  · 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035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90"/>
                </a:solidFill>
                <a:latin typeface="맑은 고딕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F0"/>
                </a:solidFill>
                <a:latin typeface="맑은 고딕"/>
              </a:rPr>
              <a:t>무엇을 만들었는가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항만 하역 업무의 반복·수작업을 자동화하고, AI로 공급망 리스크를 실시간 모니터링하는
웹 플랫폼을 구축했습니다.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48840"/>
            <a:ext cx="226771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54864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222199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선석 운영 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569464"/>
            <a:ext cx="2084831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선박별 운영 현황 실시간 조회
하역 진행률 / 잔량 시각화
운영(OPS)·혼합(MX) 이중 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6062472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index.html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2148840"/>
            <a:ext cx="226771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80" y="2148840"/>
            <a:ext cx="54864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222199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하역 스케줄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2569464"/>
            <a:ext cx="2084831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입항 예정 스케줄 관리
선종·화물 종류 필터
선석 배정 현황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6062472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schedule.html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148840"/>
            <a:ext cx="226771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2148840"/>
            <a:ext cx="54864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22199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반출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569464"/>
            <a:ext cx="2084831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반출 계획 및 실적 조회
트럭/벨트 반출 구분
일/월 집계 자동화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6062472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banchu.html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148840"/>
            <a:ext cx="226771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148840"/>
            <a:ext cx="54864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088" y="222199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야드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569464"/>
            <a:ext cx="2084831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야드 재고·위치 실시간 맵
브랜드별 재고량 표시
적치 구역 시각화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6062472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yard.html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2148840"/>
            <a:ext cx="2267712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2148840"/>
            <a:ext cx="54864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39528" y="2221992"/>
            <a:ext cx="20848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하역 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569464"/>
            <a:ext cx="2084831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Excel 업로드 → 자동 파싱
연도별 하역률 트렌드 차트
이슈 자동 태깅·분류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9528" y="6062472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맑은 고딕"/>
              </a:rPr>
              <a:t>unloading_data.html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F0"/>
                </a:solidFill>
                <a:latin typeface="맑은 고딕"/>
              </a:rPr>
              <a:t>전체 기술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920240" cy="475488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930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사용자 브라우저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468880"/>
            <a:ext cx="1920240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5237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FastAPI 백엔드 (Python)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03320"/>
            <a:ext cx="192024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75818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외부 AI / 데이터 서비스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937760"/>
            <a:ext cx="1920240" cy="475488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9926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</a:rPr>
              <a:t>배포 인프라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115568"/>
            <a:ext cx="175564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68880" y="1115568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118872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선석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1536192"/>
            <a:ext cx="1572768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index.html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115568"/>
            <a:ext cx="175564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115568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18872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하역 스케줄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536192"/>
            <a:ext cx="1572768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schedule.html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1115568"/>
            <a:ext cx="175564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2784" y="1115568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118872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반출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536192"/>
            <a:ext cx="1572768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banchu.html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1115568"/>
            <a:ext cx="175564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6" y="1115568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118872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야드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1536192"/>
            <a:ext cx="1572768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yard.html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6688" y="1115568"/>
            <a:ext cx="1755648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76688" y="1115568"/>
            <a:ext cx="54864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118872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하역 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1536192"/>
            <a:ext cx="1572768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unloading_data.html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2340864"/>
            <a:ext cx="2194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68880" y="234086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8608" y="24140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API 라우팅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2761488"/>
            <a:ext cx="20116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GET /api/supply-news
POST /api/unloading-data
파일 업로드/서빙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73168" y="2340864"/>
            <a:ext cx="2194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73168" y="234086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82896" y="24140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Excel 파싱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82896" y="2761488"/>
            <a:ext cx="20116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pandas로 xls 읽기
석탄·니켈 시트 분리
브랜드명 정규화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77456" y="2340864"/>
            <a:ext cx="2194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77456" y="234086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87184" y="24140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이슈 분류기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7184" y="2761488"/>
            <a:ext cx="20116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키워드 룰 기반 태깅
7개 카테고리 자동 분류
비고란 텍스트 파싱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81744" y="2340864"/>
            <a:ext cx="219456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234086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91472" y="24140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뉴스 수집기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2761488"/>
            <a:ext cx="201167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Tavily / RSS 이중화
15분 캐시
중복 제거·점수 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3584448"/>
            <a:ext cx="30175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68880" y="3584448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78608" y="36576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OpenAI GPT-4o-mini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8608" y="4005072"/>
            <a:ext cx="28346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뉴스 한국어 번역
2문장 공급망 요약
2차 보정 자동 재요청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23560" y="3584448"/>
            <a:ext cx="30175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23560" y="3584448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33288" y="36576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Tavily Search 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33288" y="4005072"/>
            <a:ext cx="28346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신뢰 도메인 한정 검색
최근 30일 뉴스
관련도 스코어링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78240" y="3584448"/>
            <a:ext cx="30175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584448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87968" y="3657600"/>
            <a:ext cx="2834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Google News RSS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87968" y="4005072"/>
            <a:ext cx="283463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Tavily 미설정 시 Fallback
검색어 다중 쿼리
XML 파싱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4809744"/>
            <a:ext cx="43891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468880" y="480974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78608" y="488289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Vercel Serverless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78608" y="5230368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vercel.json 라우팅
api/index.py 진입점
자동 CI/CD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86600" y="4809744"/>
            <a:ext cx="438912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86600" y="4809744"/>
            <a:ext cx="54864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96328" y="488289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Docker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96328" y="5230368"/>
            <a:ext cx="420624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Dockerfile 컨테이너화
uvicorn 내부 실행
온프레미스 대응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AI 자동화 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F0"/>
                </a:solidFill>
                <a:latin typeface="맑은 고딕"/>
              </a:rPr>
              <a:t>공급망 이슈 뉴스 자동 수집 · 번역 ·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담당자가 매일 수동으로 해외 뉴스를 검색·번역하던 작업을 AI 파이프라인이 완전 자동화합니다.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83080"/>
            <a:ext cx="22402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① 검색 트리거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67128"/>
            <a:ext cx="2240280" cy="42062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212848"/>
            <a:ext cx="2057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화물 종류 선택
(니켈 / 석탄)
버튼 클릭 또는
15분 캐시 만료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59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맑은 고딕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7" y="1783080"/>
            <a:ext cx="224028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810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② 뉴스 수집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7" y="2167128"/>
            <a:ext cx="2240280" cy="42062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7" y="2212848"/>
            <a:ext cx="2057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Tavily Search API
우선 사용
reuters, ft.com 등
신뢰 도메인 한정
미설정 시 Google
News RSS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맑은 고딕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4336" y="1783080"/>
            <a:ext cx="2240280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5775" y="1810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③ 필터링·점수화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336" y="2167128"/>
            <a:ext cx="2240280" cy="42062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2212848"/>
            <a:ext cx="2057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관련도 스코어 0.5↑
화물 핵심 키워드
매칭 필터
중복 URL 제거
최대 18건 선별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맑은 고딕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24344" y="1783080"/>
            <a:ext cx="22402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3" y="1810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④ AI 요약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2167128"/>
            <a:ext cx="2240280" cy="42062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212848"/>
            <a:ext cx="2057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OpenAI GPT-4o-mini
API 호출
한국어 제목 +
2문장 요약 생성
한국어 미포함 시
자동 재요청 보정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3184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맑은 고딕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4352" y="1783080"/>
            <a:ext cx="2240280" cy="38404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8105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⑤ 대시보드 표시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74352" y="2167128"/>
            <a:ext cx="2240280" cy="42062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1512" y="2212848"/>
            <a:ext cx="2057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카드 형태로 렌더링
태그 자동 분류
(지정학·광산·가격)
원문 링크 제공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</a:rPr>
              <a:t>※ API 키 미설정 시 RSS로 자동 전환 (Graceful Degradation) · 결과 15분 캐시로 과금 최소화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데이터 처리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F0"/>
                </a:solidFill>
                <a:latin typeface="맑은 고딕"/>
              </a:rPr>
              <a:t>Excel 업로드 → 파싱 → 분류 →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</a:rPr>
              <a:t>기존에는 담당자가 Excel 데이터를 수작업으로 정리·집계했습니다.
이제 파일 업로드만 하면 자동으로 처리됩니다.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54864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99339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Excel 파일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340864"/>
            <a:ext cx="53949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브라우저에서 .xls/.xlsx 드래그앤드롭
연도별 파일명 패턴 자동 검증 (YYYY_하역률.xls)
서버에 저장 후 즉시 파싱 시작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2024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54864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pandas 데이터 파싱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340864"/>
            <a:ext cx="53949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석탄(년) · 니켈(년) 시트 자동 분리
브랜드명 정규화 (괄호·공백·특수문자 제거)
니켈 → Ngo/Karembe/Poya 등 표준명 매핑
NaN·빈 값 안전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54864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199339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Excel 파일 업로드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340864"/>
            <a:ext cx="53949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브라우저에서 .xls/.xlsx 드래그앤드롭
연도별 파일명 패턴 자동 검증 (YYYY_하역률.xls)
서버에 저장 후 즉시 파싱 시작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77639"/>
            <a:ext cx="55778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977639"/>
            <a:ext cx="54864" cy="260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4050791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pandas 데이터 파싱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" y="4398264"/>
            <a:ext cx="539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석탄(년) · 니켈(년) 시트 자동 분리
브랜드명 정규화 (괄호·공백·특수문자 제거)
니켈 → Ngo/Karembe/Poya 등 표준명 매핑
NaN·빈 값 안전 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2024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920240"/>
            <a:ext cx="54864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99339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이슈 자동 분류 (키워드 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340864"/>
            <a:ext cx="539495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비고란 텍스트를 7개 카테고리로 자동 태깅
돌발정비 / 설비트러블 / 기상불량 / 화물상태
작업대기 / 운영변경 / 품질·검출
매칭 없으면 '기타'로 분류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977639"/>
            <a:ext cx="557784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977639"/>
            <a:ext cx="54864" cy="2606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050791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25C"/>
                </a:solidFill>
                <a:latin typeface="맑은 고딕"/>
              </a:rPr>
              <a:t>대시보드 시각화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4398264"/>
            <a:ext cx="539495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맑은 고딕"/>
              </a:rPr>
              <a:t>연도별 하역률 트렌드 라인 차트
브랜드·화물 종류별 집계 테이블
이슈 태그 필터링 · 카운트 집계
업로드 파일 목록 관리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기술 스택 &amp; 배포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F0"/>
                </a:solidFill>
                <a:latin typeface="맑은 고딕"/>
              </a:rPr>
              <a:t>사용한 기술 전체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8346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프론트엔드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8346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37360"/>
            <a:ext cx="2606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• HTML5 / CSS3 / Vanilla JS
• Noto Sans KR · DM Mono 폰트
• CSS 변수로 디자인 토큰 관리
• 카드 진입 애니메이션 (keyframes)
• 반응형 레이아웃 (Flexbox/Grid)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8688" y="1143000"/>
            <a:ext cx="28346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645920"/>
            <a:ext cx="28346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737360"/>
            <a:ext cx="2606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• Python 3.9+  ·  FastAPI
• uvicorn ASGI 서버
• pandas (Excel 파싱)
• python-dotenv (.env 로딩)
• ThreadPoolExecutor (병렬 검색)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143000"/>
            <a:ext cx="28346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AI / 외부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645920"/>
            <a:ext cx="28346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737360"/>
            <a:ext cx="2606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• OpenAI GPT-4o-mini
 - 한국어 번역 + 요약
• Tavily Search API
 - 뉴스 수집 (신뢰 도메인)
• Google News RSS (Fallback)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143000"/>
            <a:ext cx="2834640" cy="50292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배포 / 인프라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1645920"/>
            <a:ext cx="2834640" cy="4983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737360"/>
            <a:ext cx="2606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F2937"/>
                </a:solidFill>
                <a:latin typeface="맑은 고딕"/>
              </a:rPr>
              <a:t>• Vercel Serverless
 - vercel.json 라우팅
 - api/index.py 진입점
• Docker (온프레미스 대응)
• GitHub 연동 자동 배포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구현 포인트 &amp; 자동화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6583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8F0"/>
                </a:solidFill>
                <a:latin typeface="맑은 고딕"/>
              </a:rPr>
              <a:t>Before →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1640312" cy="34747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7101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25C"/>
                </a:solidFill>
                <a:latin typeface="맑은 고딕"/>
              </a:rPr>
              <a:t>공급망 뉴스 모니터링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81912"/>
            <a:ext cx="5394960" cy="804672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2400E"/>
                </a:solidFill>
                <a:latin typeface="맑은 고딕"/>
              </a:rPr>
              <a:t>BEFORE  매일 수동으로 해외 뉴스 검색
→ 한국어로 번역 후 보고서 작성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737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9669"/>
                </a:solidFill>
                <a:latin typeface="맑은 고딕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81912"/>
            <a:ext cx="5650992" cy="804672"/>
          </a:xfrm>
          <a:prstGeom prst="rect">
            <a:avLst/>
          </a:prstGeom>
          <a:solidFill>
            <a:srgbClr val="E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18488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F46"/>
                </a:solidFill>
                <a:latin typeface="맑은 고딕"/>
              </a:rPr>
              <a:t>AFTER  버튼 클릭 한 번으로
AI가 한국어 요약 즉시 제공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32888"/>
            <a:ext cx="11640312" cy="34747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569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25C"/>
                </a:solidFill>
                <a:latin typeface="맑은 고딕"/>
              </a:rPr>
              <a:t>하역 데이터 집계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80360"/>
            <a:ext cx="5394960" cy="804672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2400E"/>
                </a:solidFill>
                <a:latin typeface="맑은 고딕"/>
              </a:rPr>
              <a:t>BEFORE  Excel 수작업 복사·붙여넣기
→ 카테고리별 수동 집계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9669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880360"/>
            <a:ext cx="5650992" cy="804672"/>
          </a:xfrm>
          <a:prstGeom prst="rect">
            <a:avLst/>
          </a:prstGeom>
          <a:solidFill>
            <a:srgbClr val="E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916936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F46"/>
                </a:solidFill>
                <a:latin typeface="맑은 고딕"/>
              </a:rPr>
              <a:t>AFTER  파일 업로드만 하면
자동 파싱·차트·이슈 분류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31335"/>
            <a:ext cx="11640312" cy="34747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86791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25C"/>
                </a:solidFill>
                <a:latin typeface="맑은 고딕"/>
              </a:rPr>
              <a:t>이슈 원인 분류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78807"/>
            <a:ext cx="5394960" cy="804672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15383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2400E"/>
                </a:solidFill>
                <a:latin typeface="맑은 고딕"/>
              </a:rPr>
              <a:t>BEFORE  비고란 내용을 수작업으로 읽고
분류 기입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433425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9669"/>
                </a:solidFill>
                <a:latin typeface="맑은 고딕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178807"/>
            <a:ext cx="5650992" cy="804672"/>
          </a:xfrm>
          <a:prstGeom prst="rect">
            <a:avLst/>
          </a:prstGeom>
          <a:solidFill>
            <a:srgbClr val="E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215383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F46"/>
                </a:solidFill>
                <a:latin typeface="맑은 고딕"/>
              </a:rPr>
              <a:t>AFTER  키워드 룰 기반 자동 태깅
(7개 카테고리)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29783"/>
            <a:ext cx="11640312" cy="347472"/>
          </a:xfrm>
          <a:prstGeom prst="rect">
            <a:avLst/>
          </a:prstGeom>
          <a:solidFill>
            <a:srgbClr val="EE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16635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25C"/>
                </a:solidFill>
                <a:latin typeface="맑은 고딕"/>
              </a:rPr>
              <a:t>운영 현황 조회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77255"/>
            <a:ext cx="5394960" cy="804672"/>
          </a:xfrm>
          <a:prstGeom prst="rect">
            <a:avLst/>
          </a:prstGeom>
          <a:solidFill>
            <a:srgbClr val="FF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13831"/>
            <a:ext cx="5212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2400E"/>
                </a:solidFill>
                <a:latin typeface="맑은 고딕"/>
              </a:rPr>
              <a:t>BEFORE  여러 파일·시스템을
왔다 갔다 하며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63270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59669"/>
                </a:solidFill>
                <a:latin typeface="맑은 고딕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5477255"/>
            <a:ext cx="5650992" cy="804672"/>
          </a:xfrm>
          <a:prstGeom prst="rect">
            <a:avLst/>
          </a:prstGeom>
          <a:solidFill>
            <a:srgbClr val="EC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5513831"/>
            <a:ext cx="53949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65F46"/>
                </a:solidFill>
                <a:latin typeface="맑은 고딕"/>
              </a:rPr>
              <a:t>AFTER  단일 웹 플랫폼에서
전체 현황 한 눈에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2743200"/>
            <a:ext cx="4114800" cy="4572000"/>
          </a:xfrm>
          <a:prstGeom prst="rect">
            <a:avLst/>
          </a:prstGeom>
          <a:solidFill>
            <a:srgbClr val="1F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3C5FD"/>
                </a:solidFill>
                <a:latin typeface="맑은 고딕"/>
              </a:rPr>
              <a:t>반복 업무의 자동화 · AI 활용으로 담당자의 업무 집중도를 높였습니다.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0D4FF"/>
                </a:solidFill>
                <a:latin typeface="맑은 고딕"/>
              </a:rPr>
              <a:t>✓  FastAPI 기반 웹 플랫폼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3367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0D4FF"/>
                </a:solidFill>
                <a:latin typeface="맑은 고딕"/>
              </a:rPr>
              <a:t>✓  OpenAI GPT-4o-mini 뉴스 번역·요약 자동화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7258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0D4FF"/>
                </a:solidFill>
                <a:latin typeface="맑은 고딕"/>
              </a:rPr>
              <a:t>✓  Tavily Search + RSS 이중화 수집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1149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0D4FF"/>
                </a:solidFill>
                <a:latin typeface="맑은 고딕"/>
              </a:rPr>
              <a:t>✓  pandas Excel 파싱 + 이슈 자동 분류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5040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0D4FF"/>
                </a:solidFill>
                <a:latin typeface="맑은 고딕"/>
              </a:rPr>
              <a:t>✓  Vercel Serverless + Docker 배포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